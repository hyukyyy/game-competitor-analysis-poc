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BD5E1"/>
                </a:solidFill>
                <a:latin typeface="Calibri"/>
              </a:rPr>
              <a:t>INTERNAL PM TOOL · POC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Game Competitor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E4E8F0"/>
                </a:solidFill>
                <a:latin typeface="Calibri"/>
              </a:rPr>
              <a:t>주간 경쟁작 리서치 자동화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Calibri"/>
              </a:rPr>
              <a:t>경영진 대상 발표 · 20분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2026년 4월 18일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발표 구조: 문제 → 솔루션 → 데모 → 지표 → 로드맵 → 의사결정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한 장 요약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920240"/>
            <a:ext cx="11064240" cy="11887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8181B"/>
                </a:solidFill>
                <a:latin typeface="Calibri"/>
              </a:rPr>
              <a:t>PM 이 매주 수시간씩 수작업으로 하던 경쟁작 리서치를,
4가지 기준의 유사도 분석 + 주간 자동 배치 + 내부 웹툴로 자동화했습니다.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110642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>
                <a:solidFill>
                  <a:srgbClr val="3F3F46"/>
                </a:solidFill>
                <a:latin typeface="Calibri"/>
              </a:rPr>
              <a:t>•  담당 게임을 등록하면 매주 월요일 Top 10 경쟁작 리포트가 자동 생성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>
                <a:solidFill>
                  <a:srgbClr val="3F3F46"/>
                </a:solidFill>
                <a:latin typeface="Calibri"/>
              </a:rPr>
              <a:t>•  LLM + 임베딩으로 장르·BM·세션길이·리뷰 기반 경쟁구도를 설명가능하게 수치화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>
                <a:solidFill>
                  <a:srgbClr val="3F3F46"/>
                </a:solidFill>
                <a:latin typeface="Calibri"/>
              </a:rPr>
              <a:t>•  PM 은 리포트에 👍/👎 만 남기면 됨 → 다음 주 가중치에 자동 반영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>
                <a:solidFill>
                  <a:srgbClr val="3F3F46"/>
                </a:solidFill>
                <a:latin typeface="Calibri"/>
              </a:rPr>
              <a:t>•  4주 PoC 로 End-to-End 동작 · 운영비 사실상 $0 (Groq 무료 tier + 로컬 임베딩)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>
                <a:solidFill>
                  <a:srgbClr val="3F3F46"/>
                </a:solidFill>
                <a:latin typeface="Calibri"/>
              </a:rPr>
              <a:t>•  Steam 전용 · 인증 없음 등 범위 제한은 §9 참조, 후속 로드맵은 §11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Game Competitor Analysis PoC  ·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지금 왜 이게 필요한가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920240"/>
            <a:ext cx="5394960" cy="438912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  <a:latin typeface="Calibri"/>
              </a:rPr>
              <a:t>현재 상태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>
                <a:solidFill>
                  <a:srgbClr val="7F1D1D"/>
                </a:solidFill>
                <a:latin typeface="Calibri"/>
              </a:rPr>
              <a:t>•  PM 이 매주 월요일 아침 수동으로 경쟁작 조사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>
                <a:solidFill>
                  <a:srgbClr val="7F1D1D"/>
                </a:solidFill>
                <a:latin typeface="Calibri"/>
              </a:rPr>
              <a:t>•  스토어 검색 → 장르·BM·리뷰 훑기 → 스프레드시트 정리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>
                <a:solidFill>
                  <a:srgbClr val="7F1D1D"/>
                </a:solidFill>
                <a:latin typeface="Calibri"/>
              </a:rPr>
              <a:t>•  담당 게임 수 × 수 시간 → 월요일 업무 시간 대부분 소요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>
                <a:solidFill>
                  <a:srgbClr val="7F1D1D"/>
                </a:solidFill>
                <a:latin typeface="Calibri"/>
              </a:rPr>
              <a:t>•  조사 품질이 개인 경험에 의존 → 재현성·비교성 낮음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>
                <a:solidFill>
                  <a:srgbClr val="7F1D1D"/>
                </a:solidFill>
                <a:latin typeface="Calibri"/>
              </a:rPr>
              <a:t>•  일회성 메모로 끝나고 기관 기억으로 축적되지 않음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920240"/>
            <a:ext cx="5394960" cy="4389120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65F46"/>
                </a:solidFill>
                <a:latin typeface="Calibri"/>
              </a:rPr>
              <a:t>원하는 상태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514600"/>
            <a:ext cx="5029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>
                <a:solidFill>
                  <a:srgbClr val="065F46"/>
                </a:solidFill>
                <a:latin typeface="Calibri"/>
              </a:rPr>
              <a:t>•  월요일 아침 10분 안에 경쟁 구도 파악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>
                <a:solidFill>
                  <a:srgbClr val="065F46"/>
                </a:solidFill>
                <a:latin typeface="Calibri"/>
              </a:rPr>
              <a:t>•  시스템이 후보 Top N 제시 → PM 이 취사선택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>
                <a:solidFill>
                  <a:srgbClr val="065F46"/>
                </a:solidFill>
                <a:latin typeface="Calibri"/>
              </a:rPr>
              <a:t>•  피드백이 다음 주 품질 개선으로 되돌아옴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>
                <a:solidFill>
                  <a:srgbClr val="065F46"/>
                </a:solidFill>
                <a:latin typeface="Calibri"/>
              </a:rPr>
              <a:t>•  주간 스냅샷이 DB 에 누적 → 시장 추이 추적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400">
                <a:solidFill>
                  <a:srgbClr val="065F46"/>
                </a:solidFill>
                <a:latin typeface="Calibri"/>
              </a:rPr>
              <a:t>•  담당 게임 늘어도 PM 공수는 선형 증가 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Game Competitor Analysis PoC  ·  2026-04-18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HOW WE MEASURE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성공은 이렇게 측정합니다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최종 목표는 "정확도" 가 아니라 "PM 리포트 준비 시간 단축" 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110642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>
                <a:solidFill>
                  <a:srgbClr val="3F3F46"/>
                </a:solidFill>
                <a:latin typeface="Calibri"/>
              </a:rPr>
              <a:t>•  최종 목표: 주간 리포트 준비 시간 X → 1시간 이내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>
                <a:solidFill>
                  <a:srgbClr val="3F3F46"/>
                </a:solidFill>
                <a:latin typeface="Calibri"/>
              </a:rPr>
              <a:t>•  보조: Top 10 precision ≥ 0.6 — 시스템이 제시한 Top 10 중 실제 경쟁작이 60% 이상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>
                <a:solidFill>
                  <a:srgbClr val="3F3F46"/>
                </a:solidFill>
                <a:latin typeface="Calibri"/>
              </a:rPr>
              <a:t>•  보조: PM upvote rate ≥ 50% — PM 이 리포트에 남긴 👍 비율이 절반 이상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>
                <a:solidFill>
                  <a:srgbClr val="3F3F46"/>
                </a:solidFill>
                <a:latin typeface="Calibri"/>
              </a:rPr>
              <a:t>•  품질: Feature self-consistency ≥ 90% — 같은 게임을 여러 번 분석해도 결과가 90% 일치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>
                <a:solidFill>
                  <a:srgbClr val="3F3F46"/>
                </a:solidFill>
                <a:latin typeface="Calibri"/>
              </a:rPr>
              <a:t>•  신뢰성: E2E 주간 실행 성공률 ≥ 95% — 수집→분석→리포트 전체 파이프라인 안정성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150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핵심: 경쟁작을 "확정" 할 필요 없음. 리포트의 후보를 제시하면 PM 이 판단.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Game Competitor Analysis PoC  ·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COMPETITOR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'경쟁작' 을 수치로 정의합니다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F3F46"/>
                </a:solidFill>
                <a:latin typeface="Calibri"/>
              </a:rPr>
              <a:t>본질: target user 층의 겹침. PoC 는 4개 축의 연속값 유사도로 근사.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11064240" cy="4572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08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508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기술적 표현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50888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쉬운 설명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250888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가중치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9923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Semantic
(콘텐츠)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999232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onsolas"/>
              </a:rPr>
              <a:t>desc + review embedding
cosine similarity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999232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게임 소개글과 유저 리뷰의
내용이 얼마나 비슷한지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30632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0.40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11880"/>
            <a:ext cx="11064240" cy="685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68503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Genre
(장르)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685032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onsolas"/>
              </a:rPr>
              <a:t>LLM 추출 장르 텍스트
embedding cosine (연속값)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685032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AI가 파악한 장르가
얼마나 가까운지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37490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0.25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7083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Tier
(규모)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370832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onsolas"/>
              </a:rPr>
              <a:t>log1p(review_count)
Gaussian kernel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4370832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리뷰 수 기준 게임 체급이
비슷한지 (AAA vs 인디)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44348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0.20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983480"/>
            <a:ext cx="11064240" cy="685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056632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181B"/>
                </a:solidFill>
                <a:latin typeface="Calibri"/>
              </a:rPr>
              <a:t>BM
(수익모델)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056632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onsolas"/>
              </a:rPr>
              <a:t>{gacha, ads, premium, sub}
symmetric KL divergence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5056632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수익 모델 비율이
얼마나 비슷한지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51206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0.15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394960"/>
            <a:ext cx="11064240" cy="9601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4864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8181B"/>
                </a:solidFill>
                <a:latin typeface="Calibri"/>
              </a:rPr>
              <a:t>가중치는 PM 피드백 + 플랫폼 similar 신호로 Grid Search 자동 재튜닝.
component score 4개를 리포트에 함께 노출 → 왜 경쟁작인지 설명 가능.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Game Competitor Analysis PoC  ·  2026-04-18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5개 레이어로 동작합니다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920240"/>
            <a:ext cx="2560320" cy="7772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2140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① Collectors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920240"/>
            <a:ext cx="845820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212140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F3F46"/>
                </a:solidFill>
                <a:latin typeface="Calibri"/>
              </a:rPr>
              <a:t>Steam · App Store · itch.io 메타/리뷰 수집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88920"/>
            <a:ext cx="2560320" cy="7772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9008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②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2788920"/>
            <a:ext cx="845820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99008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F3F46"/>
                </a:solidFill>
                <a:latin typeface="Calibri"/>
              </a:rPr>
              <a:t>정규화 + Groq LLM feature 추출 + 로컬 임베딩 (384d)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2560320" cy="7772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5876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③ Engine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3657600"/>
            <a:ext cx="845820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385876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F3F46"/>
                </a:solidFill>
                <a:latin typeface="Calibri"/>
              </a:rPr>
              <a:t>4축 유사도 · 가중치 튜닝 · weak label 수집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26279"/>
            <a:ext cx="2560320" cy="7772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27447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④ Report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54680" y="4526279"/>
            <a:ext cx="845820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4727447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F3F46"/>
                </a:solidFill>
                <a:latin typeface="Calibri"/>
              </a:rPr>
              <a:t>Jinja2 + LLM 요약으로 주간 Markdown 리포트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394960"/>
            <a:ext cx="2560320" cy="7772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9612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⑤ API + FE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54680" y="5394960"/>
            <a:ext cx="8458200" cy="777240"/>
          </a:xfrm>
          <a:prstGeom prst="rect">
            <a:avLst/>
          </a:prstGeom>
          <a:solidFill>
            <a:srgbClr val="F8FAFC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559612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F3F46"/>
                </a:solidFill>
                <a:latin typeface="Calibri"/>
              </a:rPr>
              <a:t>FastAPI read-only + Next.js 16 3페이지 (upvote/downvote)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Game Competitor Analysis PoC  ·  2026-04-18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USER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PM 은 이렇게 씁니다 (4단계)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920240"/>
            <a:ext cx="731520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659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내 게임 등록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0428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FE 에서 Steam AppID 입력 → DB 에 내 게임으로 등록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80360"/>
            <a:ext cx="731520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926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내 게임 목록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26440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홈 '/' 에서 내 게임 카드 그리드 + 각 카드 Competitors/Report 링크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731520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86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경쟁작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2245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'/games/&lt;id&gt;' 에서 Top 10 + 유사도 상세 + 👍/👎 피드백 + 스토어 링크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00600"/>
            <a:ext cx="731520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9834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846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주간 리포트 열람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1846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'/games/&lt;id&gt;/report' 에서 표·신규진입·순위변동·업데이트 요약 + PDF 저장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9436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※ 경쟁작 분석 배치는 매주 일요일 저녁 자동 실행됩니다. PM 이 별도로 실행할 필요 없습니다.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Game Competitor Analysis PoC  ·  2026-04-18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데모 ① 내 게임 등록 화면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71717A"/>
                </a:solidFill>
                <a:latin typeface="Calibri"/>
              </a:rPr>
              <a:t>Home ('/') — 등록 폼 + 내 게임 카드 그리드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11064240" cy="3840480"/>
          </a:xfrm>
          <a:prstGeom prst="rect">
            <a:avLst/>
          </a:prstGeom>
          <a:solidFill>
            <a:srgbClr val="F4F4F5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71717A"/>
                </a:solidFill>
                <a:latin typeface="Calibri"/>
              </a:rPr>
              <a:t>[ 스크린샷 자리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71717A"/>
                </a:solidFill>
                <a:latin typeface="Calibri"/>
              </a:rPr>
              <a:t>발표 전 교체 — localhost:3000 에서 캡처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Game Competitor Analysis PoC  ·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데모 ② 경쟁작 분석 화면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71717A"/>
                </a:solidFill>
                <a:latin typeface="Calibri"/>
              </a:rPr>
              <a:t>/games/&lt;id&gt; — Top 10 + component bar + 스토어 링크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11064240" cy="3840480"/>
          </a:xfrm>
          <a:prstGeom prst="rect">
            <a:avLst/>
          </a:prstGeom>
          <a:solidFill>
            <a:srgbClr val="F4F4F5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71717A"/>
                </a:solidFill>
                <a:latin typeface="Calibri"/>
              </a:rPr>
              <a:t>[ 스크린샷 자리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71717A"/>
                </a:solidFill>
                <a:latin typeface="Calibri"/>
              </a:rPr>
              <a:t>발표 전 교체 — localhost:3000 에서 캡처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Game Competitor Analysis PoC  ·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데모 ③ 주간 리포트 화면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71717A"/>
                </a:solidFill>
                <a:latin typeface="Calibri"/>
              </a:rPr>
              <a:t>/games/&lt;id&gt;/report — 표·신규진입·요약 + PDF 다운로드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11064240" cy="3840480"/>
          </a:xfrm>
          <a:prstGeom prst="rect">
            <a:avLst/>
          </a:prstGeom>
          <a:solidFill>
            <a:srgbClr val="F4F4F5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71717A"/>
                </a:solidFill>
                <a:latin typeface="Calibri"/>
              </a:rPr>
              <a:t>[ 스크린샷 자리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71717A"/>
                </a:solidFill>
                <a:latin typeface="Calibri"/>
              </a:rPr>
              <a:t>발표 전 교체 — localhost:3000 에서 캡처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Game Competitor Analysis PoC  ·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FEEDBACK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피드백이 다음 주 품질로 이어집니다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81B"/>
                </a:solidFill>
                <a:latin typeface="Calibri"/>
              </a:rPr>
              <a:t>PM 에게 추가 업무 없음 — 👍/👎 만 남기면 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743200"/>
            <a:ext cx="2148840" cy="1828800"/>
          </a:xfrm>
          <a:prstGeom prst="rect">
            <a:avLst/>
          </a:prstGeom>
          <a:solidFill>
            <a:srgbClr val="EEF2F7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8181B"/>
                </a:solidFill>
                <a:latin typeface="Calibri"/>
              </a:rPr>
              <a:t>리포트에서 👍/👎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71717A"/>
                </a:solidFill>
                <a:latin typeface="Calibri"/>
              </a:rPr>
              <a:t>FE 클릭 이벤트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6332" y="352044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Calibri"/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2743200"/>
            <a:ext cx="2148840" cy="1828800"/>
          </a:xfrm>
          <a:prstGeom prst="rect">
            <a:avLst/>
          </a:prstGeom>
          <a:solidFill>
            <a:srgbClr val="EEF2F7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3017520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8181B"/>
                </a:solidFill>
                <a:latin typeface="Calibri"/>
              </a:rPr>
              <a:t>pm_feedback 테이블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840480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71717A"/>
                </a:solidFill>
                <a:latin typeface="Calibri"/>
              </a:rPr>
              <a:t>DB 로그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6612" y="352044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Calibr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2743200"/>
            <a:ext cx="2148840" cy="1828800"/>
          </a:xfrm>
          <a:prstGeom prst="rect">
            <a:avLst/>
          </a:prstGeom>
          <a:solidFill>
            <a:srgbClr val="EEF2F7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3017520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8181B"/>
                </a:solidFill>
                <a:latin typeface="Calibri"/>
              </a:rPr>
              <a:t>weight_tuner (주간)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840480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71717A"/>
                </a:solidFill>
                <a:latin typeface="Calibri"/>
              </a:rPr>
              <a:t>NDCG@k grid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6892" y="352044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Calibri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80" y="2743200"/>
            <a:ext cx="2148840" cy="1828800"/>
          </a:xfrm>
          <a:prstGeom prst="rect">
            <a:avLst/>
          </a:prstGeom>
          <a:solidFill>
            <a:srgbClr val="EEF2F7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3017520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8181B"/>
                </a:solidFill>
                <a:latin typeface="Calibri"/>
              </a:rPr>
              <a:t>weight_history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3840480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71717A"/>
                </a:solidFill>
                <a:latin typeface="Calibri"/>
              </a:rPr>
              <a:t>가중치 이력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7172" y="352044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Calibri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2743200"/>
            <a:ext cx="2148840" cy="1828800"/>
          </a:xfrm>
          <a:prstGeom prst="rect">
            <a:avLst/>
          </a:prstGeom>
          <a:solidFill>
            <a:srgbClr val="EEF2F7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3017520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8181B"/>
                </a:solidFill>
                <a:latin typeface="Calibri"/>
              </a:rPr>
              <a:t>다음 주 유사도 재계산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840480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71717A"/>
                </a:solidFill>
                <a:latin typeface="Calibri"/>
              </a:rPr>
              <a:t>리포트 품질 개선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1208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3F3F46"/>
                </a:solidFill>
                <a:latin typeface="Calibri"/>
              </a:rPr>
              <a:t>Human-in-the-Loop 방식의 '검수·승인' 플로우는 의도적으로 제거.
피드백을 '업무' 가 아닌 '자연스러운 데이터 생산' 으로 재정의 — PM 의 월요일을 되돌려줌.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Game Competitor Analysis PoC  ·  2026-04-18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기술 스택 한 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202996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언어/런타임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2029968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Python 3.11+ · Node 20 · TypeScript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23160"/>
            <a:ext cx="1106424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3288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532888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PostgreSQL 16 + pgvector (local Docker / 프로덕션 Supabase)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3580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035808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Groq llama-3.3-70b-versatile (OpenAI 호환 · 무료 tier)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29000"/>
            <a:ext cx="1106424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3872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임베딩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538728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sentence-transformers all-MiniLM-L6-v2 (384d · 완전 로컬)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4164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4041648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FastAPI + uvicorn (read-only + POST /feedback, POST /games/my)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434840"/>
            <a:ext cx="11064240" cy="50292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54456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4544568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Next.js 16 + React 19 + Tailwind v4 + turbopack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4748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IaC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5047488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Terraform (Supabase + Vercel 모듈)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Game Competitor Analysis PoC  ·  2026-04-18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운영 비용은 사실상 0원입니다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2148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Calibri"/>
              </a:rPr>
              <a:t>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1488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Groq 무료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2148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>
                <a:solidFill>
                  <a:srgbClr val="1F2A44"/>
                </a:solidFill>
                <a:latin typeface="Calibri"/>
              </a:rPr>
              <a:t>$0 / 월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11064240" cy="5486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Calibri"/>
              </a:rPr>
              <a:t>임베딩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6974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로컬 sentence-transformers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2697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>
                <a:solidFill>
                  <a:srgbClr val="1F2A44"/>
                </a:solidFill>
                <a:latin typeface="Calibri"/>
              </a:rPr>
              <a:t>$0 / 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Calibri"/>
              </a:rPr>
              <a:t>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246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Supabase 무료 프로젝트 (or self-host)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32461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>
                <a:solidFill>
                  <a:srgbClr val="1F2A44"/>
                </a:solidFill>
                <a:latin typeface="Calibri"/>
              </a:rPr>
              <a:t>$0 / 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57600"/>
            <a:ext cx="11064240" cy="5486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7947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Calibri"/>
              </a:rPr>
              <a:t>호스팅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7947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Vercel Hobby (FE+API)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7947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>
                <a:solidFill>
                  <a:srgbClr val="1F2A44"/>
                </a:solidFill>
                <a:latin typeface="Calibri"/>
              </a:rPr>
              <a:t>$0 / 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3434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8181B"/>
                </a:solidFill>
                <a:latin typeface="Calibri"/>
              </a:rPr>
              <a:t>배치 러너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3434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3F3F46"/>
                </a:solidFill>
                <a:latin typeface="Calibri"/>
              </a:rPr>
              <a:t>로컬 또는 GitHub Actions cron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43434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>
                <a:solidFill>
                  <a:srgbClr val="1F2A44"/>
                </a:solidFill>
                <a:latin typeface="Calibri"/>
              </a:rPr>
              <a:t>$0 / 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212080"/>
            <a:ext cx="11064240" cy="11887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3492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alibri"/>
              </a:rPr>
              <a:t>ROI 관점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150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8181B"/>
                </a:solidFill>
                <a:latin typeface="Calibri"/>
              </a:rPr>
              <a:t>PM 1명 × 주 X시간 수동 리서치 → 주 10분으로 단축.
도입 비용: 초기 개발 공수 외 운영비 0원 · 확장 시에도 트래픽 비례 선형 증가만.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Game Competitor Analysis PoC  ·  2026-04-18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SCOPE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현재 범위와 한계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8288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65F46"/>
                </a:solidFill>
                <a:latin typeface="Calibri"/>
              </a:rPr>
              <a:t>포함됨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53035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Steam 메타/리뷰 수집 + 내 게임 등록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LLM feature 추출 + 384d 임베딩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4축 유사도 + 주간 스냅샷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Jinja2 Markdown 리포트 + LLM 요약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FE 3페이지 (홈/경쟁작/리포트 + PDF 저장)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PM 피드백 수집 + 가중치 튜닝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91B1B"/>
                </a:solidFill>
                <a:latin typeface="Calibri"/>
              </a:rPr>
              <a:t>범위 밖 / 후속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240280"/>
            <a:ext cx="53035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인증·권한 (현재 비공개 URL + Vercel password protection 전제)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App Store / Play Store 'add-my-game' 지원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배치 자동화 (GitHub Actions cron)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POST /reports/generate 의 serverless 지원 (ML deps 50MB 제약)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target user overlap 직접 측정 (YouTube / Twitch 신호)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실제 PM 대상 사용자 테스트 + KPI 측정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Game Competitor Analysis PoC  ·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NEXT 30 / 60 / 90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로드맵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920240"/>
            <a:ext cx="3703320" cy="64008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Calibri"/>
              </a:rPr>
              <a:t>30일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60320"/>
            <a:ext cx="3703320" cy="3749039"/>
          </a:xfrm>
          <a:prstGeom prst="rect">
            <a:avLst/>
          </a:prstGeom>
          <a:solidFill>
            <a:srgbClr val="FAFAFA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337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실제 PM 2~3명 onboarding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시간 단축 KPI 측정 시작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GitHub Actions 주간 cron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기본 인증 (Vercel pw protection)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399" y="1920240"/>
            <a:ext cx="3703320" cy="6400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79" y="205740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78350F"/>
                </a:solidFill>
                <a:latin typeface="Calibri"/>
              </a:rPr>
              <a:t>60일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399" y="2560320"/>
            <a:ext cx="3703320" cy="3749039"/>
          </a:xfrm>
          <a:prstGeom prst="rect">
            <a:avLst/>
          </a:prstGeom>
          <a:solidFill>
            <a:srgbClr val="FAFAFA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2743200"/>
            <a:ext cx="3337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App Store add-my-game 지원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가중치 튜닝 A/B 측정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피드백 50+ 확보 후 재학습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리포트 UX 개선 (PM 피드백 반영)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59" y="1920240"/>
            <a:ext cx="3703320" cy="640080"/>
          </a:xfrm>
          <a:prstGeom prst="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39" y="205740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5F46"/>
                </a:solidFill>
                <a:latin typeface="Calibri"/>
              </a:rPr>
              <a:t>90일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59" y="2560320"/>
            <a:ext cx="3703320" cy="3749039"/>
          </a:xfrm>
          <a:prstGeom prst="rect">
            <a:avLst/>
          </a:prstGeom>
          <a:solidFill>
            <a:srgbClr val="FAFAFA"/>
          </a:solidFill>
          <a:ln w="635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39" y="2743200"/>
            <a:ext cx="33375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YouTube/Twitch target-user 신호 통합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Play Store 공식 경로 합법성 검토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SSO 연동 + 접근권한 관리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>
                <a:solidFill>
                  <a:srgbClr val="3F3F46"/>
                </a:solidFill>
                <a:latin typeface="Calibri"/>
              </a:rPr>
              <a:t>•  운영 전환 제안서 (비용/SLA/책임)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필요한 의사결정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920240"/>
            <a:ext cx="110642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>
                <a:solidFill>
                  <a:srgbClr val="3F3F46"/>
                </a:solidFill>
                <a:latin typeface="Calibri"/>
              </a:rPr>
              <a:t>•  PoC → 내부 운영 전환 승인 — 초기 PM 3명, 4주 파일럿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>
                <a:solidFill>
                  <a:srgbClr val="3F3F46"/>
                </a:solidFill>
                <a:latin typeface="Calibri"/>
              </a:rPr>
              <a:t>•  외부 신호 확장 검토 — YouTube Data API 키 발급 승인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>
                <a:solidFill>
                  <a:srgbClr val="3F3F46"/>
                </a:solidFill>
                <a:latin typeface="Calibri"/>
              </a:rPr>
              <a:t>•  운영 환경 확정 — Supabase 유료 tier vs 사내 Postgres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>
                <a:solidFill>
                  <a:srgbClr val="3F3F46"/>
                </a:solidFill>
                <a:latin typeface="Calibri"/>
              </a:rPr>
              <a:t>•  성공 기준 합의 — '리포트 준비 시간 X → 1시간' 의 X 실측치 확보 주체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>
                <a:solidFill>
                  <a:srgbClr val="3F3F46"/>
                </a:solidFill>
                <a:latin typeface="Calibri"/>
              </a:rPr>
              <a:t>•  스폰서 지정 — 리서치팀 vs 툴팀 중 어느 쪽이 프로덕트 오너십을 가질지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6692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Calibri"/>
              </a:rPr>
              <a:t>오늘 결정되면 5월 둘째 주부터 실제 PM 대상 파일럿 착수 가능합니다.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Game Competitor Analysis PoC  ·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CBD5E1"/>
                </a:solidFill>
                <a:latin typeface="Calibri"/>
              </a:rPr>
              <a:t>질문 · 의견 · 반론 환영합니다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Game Competitor Analysis PoC  ·  2026-04-18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부록 · DB 스키마 13개 테이블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874519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raw_games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87451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플랫폼 원본 payload (JSONB)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874519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raw_reviews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87451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리뷰 원본 (text, rating, posted_at)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79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games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24027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정규화 게임 · is_my_game 플래그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240279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game_features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24027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LLM 추출 feature · SCD Type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39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game_embeddings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60603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pgvector vector(384)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606039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game_similarities_weekly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606039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주간 유사도 스냅샷 + component_scores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9718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pm_feedback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97180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upvote/downvote/clicked/added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9718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llm_cache / embedding_cache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97180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호출 캐시 (SHA256 키)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3375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pipeline_runs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33375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stage × week × status 관측성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3375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weekly_reports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33375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생성된 리포트 (JSONB)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7033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weight_history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37033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튜닝된 가중치 + NDCG@10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37033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Consolas"/>
              </a:rPr>
              <a:t>weak_similarities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7033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플랫폼 similar signal (tag overlap 등)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Game Competitor Analysis PoC  ·  2026-04-18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44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8181B"/>
                </a:solidFill>
                <a:latin typeface="Calibri"/>
              </a:rPr>
              <a:t>부록 · 유사도 공식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600200"/>
            <a:ext cx="11064240" cy="0"/>
          </a:xfrm>
          <a:prstGeom prst="line">
            <a:avLst/>
          </a:prstGeom>
          <a:ln w="9525">
            <a:solidFill>
              <a:srgbClr val="E4E4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920240"/>
            <a:ext cx="11064240" cy="12801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onsolas"/>
              </a:rPr>
              <a:t>score = 0.40 · semantic + 0.25 · genre + 0.20 · tier + 0.15 · bm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onsolas"/>
              </a:rPr>
              <a:t>semantic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34747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8181B"/>
                </a:solidFill>
                <a:latin typeface="Consolas"/>
              </a:rPr>
              <a:t>cosine(desc_embed_a, desc_embed_b)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47472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description + reviews 를 합쳐 임베딩한 벡터의 코사인 유사도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onsolas"/>
              </a:rPr>
              <a:t>genre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41148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8181B"/>
                </a:solidFill>
                <a:latin typeface="Consolas"/>
              </a:rPr>
              <a:t>cosine(genre_embed_a, genre_embed_b)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411480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LLM 이 추출한 장르 문자열의 임베딩 — 카테고리 이진 매칭이 아닌 연속값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5487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onsolas"/>
              </a:rPr>
              <a:t>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75487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8181B"/>
                </a:solidFill>
                <a:latin typeface="Consolas"/>
              </a:rPr>
              <a:t>exp(-|tier_a - tier_b| / 0.3)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754879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log1p(review_count) 정규화 후 거리 기반 Gaussian — 체급 유사도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39495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Consolas"/>
              </a:rPr>
              <a:t>bm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539495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8181B"/>
                </a:solidFill>
                <a:latin typeface="Consolas"/>
              </a:rPr>
              <a:t>1 - KL_sym(bm_a, bm_b) / (2·log 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5394959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gacha/ads/premium/sub 확률분포의 대칭 KL 거리 → 유사도로 반전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Game Competitor Analysis PoC  ·  2026-04-18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537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717A"/>
                </a:solidFill>
                <a:latin typeface="Calibri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